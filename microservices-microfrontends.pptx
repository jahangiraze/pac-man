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8" d="100"/>
          <a:sy n="148" d="100"/>
        </p:scale>
        <p:origin x="114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7492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36576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286000"/>
            <a:ext cx="1828800" cy="1828800"/>
          </a:xfrm>
          <a:prstGeom prst="ellipse">
            <a:avLst/>
          </a:prstGeom>
          <a:solidFill>
            <a:srgbClr val="4A6FA5">
              <a:alpha val="30000"/>
            </a:srgbClr>
          </a:solidFill>
          <a:ln w="12700">
            <a:solidFill>
              <a:srgbClr val="4A6FA5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&amp;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Microfrontends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Architecture Overview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scalable, resilient, and independently deployable systems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enterprise-grade applications.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3E788D-6B50-4587-9A1E-18726021E4BD}"/>
              </a:ext>
            </a:extLst>
          </p:cNvPr>
          <p:cNvSpPr txBox="1"/>
          <p:nvPr/>
        </p:nvSpPr>
        <p:spPr>
          <a:xfrm>
            <a:off x="457201" y="4565561"/>
            <a:ext cx="25564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i="1" dirty="0">
                <a:solidFill>
                  <a:schemeClr val="bg1"/>
                </a:solidFill>
              </a:rPr>
              <a:t>Jahangir Alisoy &amp; Jamila </a:t>
            </a:r>
            <a:r>
              <a:rPr lang="en-US" sz="1100" b="1" i="1" dirty="0" err="1">
                <a:solidFill>
                  <a:schemeClr val="bg1"/>
                </a:solidFill>
              </a:rPr>
              <a:t>Namazova</a:t>
            </a:r>
            <a:endParaRPr lang="en-US" sz="1100" b="1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39776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60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architectural style where an application is built as a suite of small, independently deployable services—each running in its own process and communicating via lightweight APIs.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3474720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4360" y="27157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Independent deployment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3474720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358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Single responsibility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3474720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558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Decentralized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474720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6758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API-first communication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868680"/>
            <a:ext cx="4023360" cy="39776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960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Microfrontends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37760" y="1554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extension of microservices thinking to the frontend. Each team owns a vertical slice of the product—from database to UI—making the entire stack independently deliverable.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37760" y="2697480"/>
            <a:ext cx="3474720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71576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Team autonomy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017520"/>
            <a:ext cx="3474720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03580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Tech agnostic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337560"/>
            <a:ext cx="3474720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3558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Isolated runtimes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657600"/>
            <a:ext cx="3474720" cy="256032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67588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→  Composed at runtime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 ·  Architecture Principles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783080"/>
          </a:xfrm>
          <a:prstGeom prst="rect">
            <a:avLst/>
          </a:prstGeom>
          <a:solidFill>
            <a:srgbClr val="142536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4008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98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3560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owns exactly one business capability. The Orders service never touches User data directly.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960120"/>
            <a:ext cx="2743200" cy="1783080"/>
          </a:xfrm>
          <a:prstGeom prst="rect">
            <a:avLst/>
          </a:prstGeom>
          <a:solidFill>
            <a:srgbClr val="142536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18688" y="960120"/>
            <a:ext cx="64008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10698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Coupling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55848" y="143560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communicate through well-defined contracts (REST/gRPC/events). Internal implementation is hidden.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63056" y="960120"/>
            <a:ext cx="2743200" cy="1783080"/>
          </a:xfrm>
          <a:prstGeom prst="rect">
            <a:avLst/>
          </a:prstGeom>
          <a:solidFill>
            <a:srgbClr val="142536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3056" y="960120"/>
            <a:ext cx="64008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0216" y="10698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Cohesion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0216" y="143560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logic for a given domain lives in one service. Changes stay local—no cascading updates.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2743200" cy="1783080"/>
          </a:xfrm>
          <a:prstGeom prst="rect">
            <a:avLst/>
          </a:prstGeom>
          <a:solidFill>
            <a:srgbClr val="142536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64008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358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Governance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40156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chooses the right tool for their service. No forced tech stack uniformity.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18688" y="2926080"/>
            <a:ext cx="2743200" cy="1783080"/>
          </a:xfrm>
          <a:prstGeom prst="rect">
            <a:avLst/>
          </a:prstGeom>
          <a:solidFill>
            <a:srgbClr val="142536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18688" y="2926080"/>
            <a:ext cx="64008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30358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Failure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55848" y="340156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breakers, retries and timeouts are built-in, not bolted on. Assume services will fail.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63056" y="2926080"/>
            <a:ext cx="2743200" cy="1783080"/>
          </a:xfrm>
          <a:prstGeom prst="rect">
            <a:avLst/>
          </a:prstGeom>
          <a:solidFill>
            <a:srgbClr val="142536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63056" y="2926080"/>
            <a:ext cx="64008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0216" y="30358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by Default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0216" y="340156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logs, distributed traces, and metrics are first-class citizens in every service.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 ·  Benefits &amp; Challenges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3931920" cy="384048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86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BENEFITS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3931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441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scaling — scale only the bottleneck service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65376"/>
            <a:ext cx="3931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91109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deployments — ship features without coordinating releases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432304"/>
            <a:ext cx="3931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47802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flexibility — right tool for each job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99232"/>
            <a:ext cx="3931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04495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isolation — one failure doesn't cascade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3931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61188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codebases — easier to understand and test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868680"/>
            <a:ext cx="393192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886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298448"/>
            <a:ext cx="3931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74920" y="134416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systems complexity — network latency &amp; failures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1865376"/>
            <a:ext cx="3931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74920" y="191109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 — no shared DB, eventual consistency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432304"/>
            <a:ext cx="3931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247802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overhead — more services to monitor &amp; deploy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999232"/>
            <a:ext cx="3931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74920" y="304495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complexity — integration &amp; contract testing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3566160"/>
            <a:ext cx="3931920" cy="502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74920" y="361188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&amp; load balancing required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 ·  Communication Patterns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3657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869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(Request/Response)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114800" cy="566928"/>
          </a:xfrm>
          <a:prstGeom prst="rect">
            <a:avLst/>
          </a:prstGeom>
          <a:solidFill>
            <a:srgbClr val="142536"/>
          </a:solidFill>
          <a:ln w="10160">
            <a:solidFill>
              <a:srgbClr val="4A6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533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over HTTP/HTTPS — universal, human-readable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938528"/>
            <a:ext cx="4114800" cy="566928"/>
          </a:xfrm>
          <a:prstGeom prst="rect">
            <a:avLst/>
          </a:prstGeom>
          <a:solidFill>
            <a:srgbClr val="142536"/>
          </a:solidFill>
          <a:ln w="10160">
            <a:solidFill>
              <a:srgbClr val="4A6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933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— high-performance, strongly typed contracts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578608"/>
            <a:ext cx="4114800" cy="566928"/>
          </a:xfrm>
          <a:prstGeom prst="rect">
            <a:avLst/>
          </a:prstGeom>
          <a:solidFill>
            <a:srgbClr val="142536"/>
          </a:solidFill>
          <a:ln w="10160">
            <a:solidFill>
              <a:srgbClr val="4A6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6334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— flexible query layer for aggregation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3218688"/>
            <a:ext cx="4114800" cy="566928"/>
          </a:xfrm>
          <a:prstGeom prst="rect">
            <a:avLst/>
          </a:prstGeom>
          <a:solidFill>
            <a:srgbClr val="142536"/>
          </a:solidFill>
          <a:ln w="10160">
            <a:solidFill>
              <a:srgbClr val="4A6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2735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queries needing immediate responses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868680"/>
            <a:ext cx="4114800" cy="3657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8869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(Event-Driven)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298448"/>
            <a:ext cx="4114800" cy="566928"/>
          </a:xfrm>
          <a:prstGeom prst="rect">
            <a:avLst/>
          </a:prstGeom>
          <a:solidFill>
            <a:srgbClr val="142536"/>
          </a:solidFill>
          <a:ln w="10160">
            <a:solidFill>
              <a:srgbClr val="0077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3533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queues (RabbitMQ, SQS) — reliable delivery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1938528"/>
            <a:ext cx="4114800" cy="566928"/>
          </a:xfrm>
          <a:prstGeom prst="rect">
            <a:avLst/>
          </a:prstGeom>
          <a:solidFill>
            <a:srgbClr val="142536"/>
          </a:solidFill>
          <a:ln w="10160">
            <a:solidFill>
              <a:srgbClr val="0077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9933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streaming (Kafka) — ordered, replayable events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2578608"/>
            <a:ext cx="4114800" cy="566928"/>
          </a:xfrm>
          <a:prstGeom prst="rect">
            <a:avLst/>
          </a:prstGeom>
          <a:solidFill>
            <a:srgbClr val="142536"/>
          </a:solidFill>
          <a:ln w="10160">
            <a:solidFill>
              <a:srgbClr val="0077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6334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 — decoupled broadcast to many consumers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3218688"/>
            <a:ext cx="4114800" cy="566928"/>
          </a:xfrm>
          <a:prstGeom prst="rect">
            <a:avLst/>
          </a:prstGeom>
          <a:solidFill>
            <a:srgbClr val="142536"/>
          </a:solidFill>
          <a:ln w="10160">
            <a:solidFill>
              <a:srgbClr val="0077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2735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commands &amp; notifications, high throughput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4320" y="4160520"/>
            <a:ext cx="8595360" cy="4940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Use sync for queries, async for commands.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 ·  Deployment &amp; Orchestration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19202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058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4048" y="1417320"/>
            <a:ext cx="24323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packages each service with all its dependencies into a portable, isolated unit. Build once, run anywhere.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651760" cy="19202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0058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10128" y="1417320"/>
            <a:ext cx="24323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orchestrates containers at scale—auto-scaling, self-healing, rolling deployments, and service discovery out of the box.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651760" cy="19202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36208" y="100584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36208" y="1417320"/>
            <a:ext cx="24323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has its own pipeline. A commit triggers automated tests, image build, and deployment—independently of all other services.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2651760" cy="1828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30175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" y="342900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 for clients. Handles routing, rate limiting, auth, and SSL termination before requests reach services.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926080"/>
            <a:ext cx="2651760" cy="1828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10128" y="30175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Mesh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342900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Istio/Linkerd add observability, mTLS, traffic management, and circuit breaking at the infrastructure layer—no code changes.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2926080"/>
            <a:ext cx="2651760" cy="1828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36208" y="301752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6208" y="342900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for metrics. Jaeger for distributed tracing. ELK stack for logs. You can't manage what you can't see.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Microfrontends  ·  What &amp; Why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977640"/>
          </a:xfrm>
          <a:prstGeom prst="rect">
            <a:avLst/>
          </a:prstGeom>
          <a:solidFill>
            <a:srgbClr val="142536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organizations scale, the backend splits into microservices—but the frontend stays a single, massive monolith. One team owns the entire UI. Every feature requires coordination. Deployments are risky and infrequent.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becomes the bottleneck.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3108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Microfrontends extend team autonomy to the UI. Each team owns a vertical slice—database, API, and UI—and deploys it independently. The shell app composes them at runtime.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0" y="914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Team Ownership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4206240" cy="10058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417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Orders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1737360" cy="411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8470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29400" y="1828800"/>
            <a:ext cx="1737360" cy="411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18470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UI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514600"/>
            <a:ext cx="4206240" cy="10058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09160" y="2560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Catalog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971800"/>
            <a:ext cx="1737360" cy="411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9900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API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29400" y="2971800"/>
            <a:ext cx="1737360" cy="411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9900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UI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3657600"/>
            <a:ext cx="4206240" cy="10058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09160" y="37033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Payments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4114800"/>
            <a:ext cx="1737360" cy="411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1330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API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29400" y="4114800"/>
            <a:ext cx="1737360" cy="4114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41330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UI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4681728"/>
            <a:ext cx="4206240" cy="393192"/>
          </a:xfrm>
          <a:prstGeom prst="rect">
            <a:avLst/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4617720"/>
            <a:ext cx="4023360" cy="4686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/ App Shell  (composes all MFEs)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Microfrontends  ·  Integration Strategies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834640" cy="4572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3268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Federation (Webpack 5)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834640" cy="1005840"/>
          </a:xfrm>
          <a:prstGeom prst="rect">
            <a:avLst/>
          </a:prstGeom>
          <a:solidFill>
            <a:srgbClr val="E8F8F5"/>
          </a:solidFill>
          <a:ln w="7620">
            <a:solidFill>
              <a:srgbClr val="007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integration, shared libs, hot updates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2514600"/>
            <a:ext cx="2834640" cy="1005840"/>
          </a:xfrm>
          <a:prstGeom prst="rect">
            <a:avLst/>
          </a:prstGeom>
          <a:solidFill>
            <a:srgbClr val="FDECEA"/>
          </a:solidFill>
          <a:ln w="7620">
            <a:solidFill>
              <a:srgbClr val="0077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560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83464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Webpack coupling, versioning complexity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611880"/>
            <a:ext cx="2834640" cy="1005840"/>
          </a:xfrm>
          <a:prstGeom prst="rect">
            <a:avLst/>
          </a:prstGeom>
          <a:solidFill>
            <a:srgbClr val="EAF2FF"/>
          </a:solidFill>
          <a:ln w="7620">
            <a:solidFill>
              <a:srgbClr val="0077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657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BEST FOR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93192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ecosystems using React or Vue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18688" y="914400"/>
            <a:ext cx="2834640" cy="4572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93268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Components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18688" y="1417320"/>
            <a:ext cx="2834640" cy="1005840"/>
          </a:xfrm>
          <a:prstGeom prst="rect">
            <a:avLst/>
          </a:prstGeom>
          <a:solidFill>
            <a:srgbClr val="E8F8F5"/>
          </a:solidFill>
          <a:ln w="7620">
            <a:solidFill>
              <a:srgbClr val="4A6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173736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Framework-agnostic, native browser standard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18688" y="2514600"/>
            <a:ext cx="2834640" cy="1005840"/>
          </a:xfrm>
          <a:prstGeom prst="rect">
            <a:avLst/>
          </a:prstGeom>
          <a:solidFill>
            <a:srgbClr val="FDECEA"/>
          </a:solidFill>
          <a:ln w="7620">
            <a:solidFill>
              <a:srgbClr val="4A6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2560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283464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limitations, SSR complexity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18688" y="3611880"/>
            <a:ext cx="2834640" cy="1005840"/>
          </a:xfrm>
          <a:prstGeom prst="rect">
            <a:avLst/>
          </a:prstGeom>
          <a:solidFill>
            <a:srgbClr val="EAF2FF"/>
          </a:solidFill>
          <a:ln w="7620">
            <a:solidFill>
              <a:srgbClr val="4A6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3657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BEST FOR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393192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Multi-framework environments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63056" y="914400"/>
            <a:ext cx="283464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932688"/>
            <a:ext cx="2651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63056" y="1417320"/>
            <a:ext cx="2834640" cy="1005840"/>
          </a:xfrm>
          <a:prstGeom prst="rect">
            <a:avLst/>
          </a:prstGeom>
          <a:solidFill>
            <a:srgbClr val="E8F8F5"/>
          </a:solidFill>
          <a:ln w="762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54496" y="173736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isolation, any technology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63056" y="2514600"/>
            <a:ext cx="2834640" cy="1005840"/>
          </a:xfrm>
          <a:prstGeom prst="rect">
            <a:avLst/>
          </a:prstGeom>
          <a:solidFill>
            <a:srgbClr val="FDECEA"/>
          </a:solidFill>
          <a:ln w="7620">
            <a:solidFill>
              <a:srgbClr val="E67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25603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CONS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54496" y="283464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Performance, UX constraints, URL issues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63056" y="3611880"/>
            <a:ext cx="2834640" cy="1005840"/>
          </a:xfrm>
          <a:prstGeom prst="rect">
            <a:avLst/>
          </a:prstGeom>
          <a:solidFill>
            <a:srgbClr val="EAF2FF"/>
          </a:solidFill>
          <a:ln w="762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3657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BEST FOR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54496" y="3931920"/>
            <a:ext cx="26517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app integration, hard isolation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Microfrontends  ·  Real-World Patterns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261872"/>
          </a:xfrm>
          <a:prstGeom prst="rect">
            <a:avLst/>
          </a:prstGeom>
          <a:solidFill>
            <a:srgbClr val="142536"/>
          </a:solidFill>
          <a:ln w="15240">
            <a:solidFill>
              <a:srgbClr val="0077A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2618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87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Design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335024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shared component library (tokens, atoms, molecules) as an npm package. All MFEs consume it. Visual consistency without coupling logic.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206240" cy="1261872"/>
          </a:xfrm>
          <a:prstGeom prst="rect">
            <a:avLst/>
          </a:prstGeom>
          <a:solidFill>
            <a:srgbClr val="142536"/>
          </a:solidFill>
          <a:ln w="15240">
            <a:solidFill>
              <a:srgbClr val="4A6FA5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64008" cy="1261872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9875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Cross-MFE Communication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335024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CustomEvents on the window object or a shared event bus (RxJS Subject). Avoid direct imports between MFEs—that's just a distributed monolith.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206240" cy="1261872"/>
          </a:xfrm>
          <a:prstGeom prst="rect">
            <a:avLst/>
          </a:prstGeom>
          <a:solidFill>
            <a:srgbClr val="142536"/>
          </a:solidFill>
          <a:ln w="15240">
            <a:solidFill>
              <a:srgbClr val="7B2FB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64008" cy="12618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3591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Routing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2706624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owns top-level routes (/orders, /catalog). Each MFE owns sub-routes. Use lazy loading—load a MFE bundle only when the user navigates to it.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286000"/>
            <a:ext cx="4206240" cy="1261872"/>
          </a:xfrm>
          <a:prstGeom prst="rect">
            <a:avLst/>
          </a:prstGeom>
          <a:solidFill>
            <a:srgbClr val="142536"/>
          </a:solidFill>
          <a:ln w="1524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286000"/>
            <a:ext cx="64008" cy="1261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3591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Session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2706624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handles login and passes a JWT or auth context down. Each MFE reads context but never re-authenticates. Single sign-on at the shell layer.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657600"/>
            <a:ext cx="4206240" cy="1261872"/>
          </a:xfrm>
          <a:prstGeom prst="rect">
            <a:avLst/>
          </a:prstGeom>
          <a:solidFill>
            <a:srgbClr val="142536"/>
          </a:solidFill>
          <a:ln w="1524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57600"/>
            <a:ext cx="64008" cy="12618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730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(carefully)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4078224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local state per MFE. For truly global state (cart, user), use a lightweight shared store exposed by the shell—not Redux across MFEs.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206240" cy="1261872"/>
          </a:xfrm>
          <a:prstGeom prst="rect">
            <a:avLst/>
          </a:prstGeom>
          <a:solidFill>
            <a:srgbClr val="142536"/>
          </a:solidFill>
          <a:ln w="1524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57600"/>
            <a:ext cx="64008" cy="12618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7307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Deployments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9472" y="4078224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MFE has its own CI/CD pipeline. The shell loads MFE bundles from versioned URLs. Deploy one MFE without touching others or re-deploying the shell.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4A6FA5">
              <a:alpha val="20000"/>
            </a:srgbClr>
          </a:solidFill>
          <a:ln w="12700">
            <a:solidFill>
              <a:srgbClr val="4A6FA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2286000" y="2103120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788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and Microfrontends are not about technology—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i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about team autonomy, speed, and resilience by design.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999</Words>
  <Application>Microsoft Office PowerPoint</Application>
  <PresentationFormat>On-screen Show (16:9)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&amp; Microfrontends</dc:title>
  <dc:subject>PptxGenJS Presentation</dc:subject>
  <dc:creator>PptxGenJS</dc:creator>
  <cp:lastModifiedBy>Jahangir Alisoy</cp:lastModifiedBy>
  <cp:revision>4</cp:revision>
  <dcterms:created xsi:type="dcterms:W3CDTF">2026-02-26T10:34:13Z</dcterms:created>
  <dcterms:modified xsi:type="dcterms:W3CDTF">2026-02-26T10:54:18Z</dcterms:modified>
</cp:coreProperties>
</file>